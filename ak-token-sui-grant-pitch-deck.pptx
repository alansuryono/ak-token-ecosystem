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a5c99ee0f3e465a" /><Relationship Type="http://schemas.openxmlformats.org/officeDocument/2006/relationships/extended-properties" Target="/docProps/app.xml" Id="R6164d2443705468e" /><Relationship Type="http://schemas.openxmlformats.org/officeDocument/2006/relationships/officeDocument" Target="/ppt/presentation.xml" Id="Rb42b6457f7cc41d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b79ec356b534352"/>
  </p:sldMasterIdLst>
  <p:notesMasterIdLst>
    <p:notesMasterId xmlns:r="http://schemas.openxmlformats.org/officeDocument/2006/relationships" r:id="R33f0217064034d90"/>
  </p:notesMasterIdLst>
  <p:sldIdLst>
    <p:sldId xmlns:r="http://schemas.openxmlformats.org/officeDocument/2006/relationships" id="256" r:id="R0f827a92c7fd43f7"/>
    <p:sldId xmlns:r="http://schemas.openxmlformats.org/officeDocument/2006/relationships" id="257" r:id="R76bf1e5ff19e4f20"/>
    <p:sldId xmlns:r="http://schemas.openxmlformats.org/officeDocument/2006/relationships" id="258" r:id="R61358c9ec6014555"/>
    <p:sldId xmlns:r="http://schemas.openxmlformats.org/officeDocument/2006/relationships" id="259" r:id="R73e1a85c889141be"/>
    <p:sldId xmlns:r="http://schemas.openxmlformats.org/officeDocument/2006/relationships" id="260" r:id="R3f14ab6e57e44e8c"/>
    <p:sldId xmlns:r="http://schemas.openxmlformats.org/officeDocument/2006/relationships" id="261" r:id="R7a9c1ed0d07d47f2"/>
    <p:sldId xmlns:r="http://schemas.openxmlformats.org/officeDocument/2006/relationships" id="262" r:id="Ra15788c3098a496a"/>
    <p:sldId xmlns:r="http://schemas.openxmlformats.org/officeDocument/2006/relationships" id="263" r:id="Rbd622191e493413c"/>
    <p:sldId xmlns:r="http://schemas.openxmlformats.org/officeDocument/2006/relationships" id="264" r:id="Rfffe9a1ad31e4676"/>
    <p:sldId xmlns:r="http://schemas.openxmlformats.org/officeDocument/2006/relationships" id="265" r:id="R32187463cb904134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0c7b686e2aa4e8e" /><Relationship Type="http://schemas.openxmlformats.org/officeDocument/2006/relationships/slideMaster" Target="/ppt/slideMasters/slideMaster1.xml" Id="Reb79ec356b534352" /><Relationship Type="http://schemas.openxmlformats.org/officeDocument/2006/relationships/notesMaster" Target="/ppt/notesMasters/notesMaster1.xml" Id="R33f0217064034d90" /><Relationship Type="http://schemas.openxmlformats.org/officeDocument/2006/relationships/presProps" Target="/ppt/presProps.xml" Id="Ra052e0f41c44456d" /><Relationship Type="http://schemas.openxmlformats.org/officeDocument/2006/relationships/tableStyles" Target="/ppt/tableStyles.xml" Id="Re97e1d6e757e409c" /><Relationship Type="http://schemas.openxmlformats.org/officeDocument/2006/relationships/slide" Target="/ppt/slides/slide1.xml" Id="R0f827a92c7fd43f7" /><Relationship Type="http://schemas.openxmlformats.org/officeDocument/2006/relationships/slide" Target="/ppt/slides/slide2.xml" Id="R76bf1e5ff19e4f20" /><Relationship Type="http://schemas.openxmlformats.org/officeDocument/2006/relationships/slide" Target="/ppt/slides/slide3.xml" Id="R61358c9ec6014555" /><Relationship Type="http://schemas.openxmlformats.org/officeDocument/2006/relationships/slide" Target="/ppt/slides/slide4.xml" Id="R73e1a85c889141be" /><Relationship Type="http://schemas.openxmlformats.org/officeDocument/2006/relationships/slide" Target="/ppt/slides/slide5.xml" Id="R3f14ab6e57e44e8c" /><Relationship Type="http://schemas.openxmlformats.org/officeDocument/2006/relationships/slide" Target="/ppt/slides/slide6.xml" Id="R7a9c1ed0d07d47f2" /><Relationship Type="http://schemas.openxmlformats.org/officeDocument/2006/relationships/slide" Target="/ppt/slides/slide7.xml" Id="Ra15788c3098a496a" /><Relationship Type="http://schemas.openxmlformats.org/officeDocument/2006/relationships/slide" Target="/ppt/slides/slide8.xml" Id="Rbd622191e493413c" /><Relationship Type="http://schemas.openxmlformats.org/officeDocument/2006/relationships/slide" Target="/ppt/slides/slide9.xml" Id="Rfffe9a1ad31e4676" /><Relationship Type="http://schemas.openxmlformats.org/officeDocument/2006/relationships/slide" Target="/ppt/slides/slide10.xml" Id="R32187463cb90413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78a35e47581494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b8a19fd61a647f4" /><Relationship Type="http://schemas.openxmlformats.org/officeDocument/2006/relationships/notesMaster" Target="/ppt/notesMasters/notesMaster1.xml" Id="R7757488f444d4e5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88afe16a5b1404b" /><Relationship Type="http://schemas.openxmlformats.org/officeDocument/2006/relationships/notesMaster" Target="/ppt/notesMasters/notesMaster1.xml" Id="R2286dbc8408345d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aee835701f84189" /><Relationship Type="http://schemas.openxmlformats.org/officeDocument/2006/relationships/notesMaster" Target="/ppt/notesMasters/notesMaster1.xml" Id="Reea6c6db775b4cf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e3af12e27d44438" /><Relationship Type="http://schemas.openxmlformats.org/officeDocument/2006/relationships/notesMaster" Target="/ppt/notesMasters/notesMaster1.xml" Id="R723a8a0a275c434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846d58225544849" /><Relationship Type="http://schemas.openxmlformats.org/officeDocument/2006/relationships/notesMaster" Target="/ppt/notesMasters/notesMaster1.xml" Id="Ra842815b70094d6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d9375d8cdcb4c98" /><Relationship Type="http://schemas.openxmlformats.org/officeDocument/2006/relationships/notesMaster" Target="/ppt/notesMasters/notesMaster1.xml" Id="R85bd09581b844c4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31f3c7c2c124ded" /><Relationship Type="http://schemas.openxmlformats.org/officeDocument/2006/relationships/notesMaster" Target="/ppt/notesMasters/notesMaster1.xml" Id="R84004926c26c415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4a15a777e884361" /><Relationship Type="http://schemas.openxmlformats.org/officeDocument/2006/relationships/notesMaster" Target="/ppt/notesMasters/notesMaster1.xml" Id="R3caa8614d530493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93cd0494e104de8" /><Relationship Type="http://schemas.openxmlformats.org/officeDocument/2006/relationships/notesMaster" Target="/ppt/notesMasters/notesMaster1.xml" Id="R1ce613816109463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b540303b1395455b" /><Relationship Type="http://schemas.openxmlformats.org/officeDocument/2006/relationships/notesMaster" Target="/ppt/notesMasters/notesMaster1.xml" Id="R3289c0493f7544e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2eef299ce244b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e6d2216eaa14784" /><Relationship Type="http://schemas.openxmlformats.org/officeDocument/2006/relationships/slideLayout" Target="/ppt/slideLayouts/slideLayout1.xml" Id="R3d4ead2c95fe4360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d4ead2c95fe4360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71c919d70249ab" /><Relationship Type="http://schemas.openxmlformats.org/officeDocument/2006/relationships/notesSlide" Target="/ppt/notesSlides/notesSlide1.xml" Id="R47051ff314994d4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b8d83ddaf14868" /><Relationship Type="http://schemas.openxmlformats.org/officeDocument/2006/relationships/notesSlide" Target="/ppt/notesSlides/notesSlide2.xml" Id="R7d95f3a8c5764d7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f96d4684d84705" /><Relationship Type="http://schemas.openxmlformats.org/officeDocument/2006/relationships/notesSlide" Target="/ppt/notesSlides/notesSlide3.xml" Id="R37db79d142a747f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0a07157bf242af" /><Relationship Type="http://schemas.openxmlformats.org/officeDocument/2006/relationships/notesSlide" Target="/ppt/notesSlides/notesSlide4.xml" Id="R17938542bb4b4dd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3928d03f0f4f68" /><Relationship Type="http://schemas.openxmlformats.org/officeDocument/2006/relationships/notesSlide" Target="/ppt/notesSlides/notesSlide5.xml" Id="Re1a0c0d9738f405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7b04c5df464958" /><Relationship Type="http://schemas.openxmlformats.org/officeDocument/2006/relationships/notesSlide" Target="/ppt/notesSlides/notesSlide6.xml" Id="R58fbb18fc3934e8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f68933fbc64a4f" /><Relationship Type="http://schemas.openxmlformats.org/officeDocument/2006/relationships/notesSlide" Target="/ppt/notesSlides/notesSlide7.xml" Id="R67fc04188eeb411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79b3593bc4433c" /><Relationship Type="http://schemas.openxmlformats.org/officeDocument/2006/relationships/notesSlide" Target="/ppt/notesSlides/notesSlide8.xml" Id="R95e1ed497c86426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b615c89abd4303" /><Relationship Type="http://schemas.openxmlformats.org/officeDocument/2006/relationships/notesSlide" Target="/ppt/notesSlides/notesSlide9.xml" Id="R701af3ac861e44b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492841ab3346f7" /><Relationship Type="http://schemas.openxmlformats.org/officeDocument/2006/relationships/notesSlide" Target="/ppt/notesSlides/notesSlide10.xml" Id="Rada74be7512840c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58F3F23-DEFB-42C1-991F-4D9680458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AC5FD5-CB7E-4E83-9250-CD8EA07CB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07807E-ACCC-4865-9224-DA439B58F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1809750"/>
            <a:ext cx="4953000" cy="4953000"/>
          </a:xfrm>
          <a:prstGeom xmlns:a="http://schemas.openxmlformats.org/drawingml/2006/main" prst="arc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58FB8C-E703-462D-97A6-F5B979E5A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1123950" cy="685800"/>
          </a:xfrm>
          <a:prstGeom xmlns:a="http://schemas.openxmlformats.org/drawingml/2006/main" prst="roundRect">
            <a:avLst>
              <a:gd name="adj" fmla="val 16667"/>
            </a:avLst>
          </a:prstGeom>
          <a:ln xmlns:a="http://schemas.openxmlformats.org/drawingml/2006/main" w="9525">
            <a:solidFill>
              <a:srgbClr val="28D7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835323-C93E-45B5-8F27-876E8BA84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609600"/>
            <a:ext cx="666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AK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C1C98C-62CD-4F0A-A419-B71218D76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76400"/>
            <a:ext cx="8763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500" b="1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4500" b="1">
                <a:solidFill>
                  <a:srgbClr val="EEF7FF"/>
                </a:solidFill>
                <a:latin typeface="Arial"/>
                <a:ea typeface="Arial"/>
                <a:cs typeface="Arial"/>
              </a:rPr>
              <a:t>AK TOKEN ECOSYSTEM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6C4933-50C2-4FC4-85F8-90825C738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400300"/>
            <a:ext cx="6477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Sui Grant Pitch Deck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11159A-344D-469C-BF10-F36F19B99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71800"/>
            <a:ext cx="7239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A8BDD4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A8BDD4"/>
                </a:solidFill>
                <a:latin typeface="Arial"/>
                <a:ea typeface="Arial"/>
                <a:cs typeface="Arial"/>
              </a:rPr>
              <a:t>Community utility, MSME loyalty pilot, cultural NFT storytelling, and Web3 education for Indonesian users.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28BEAAE-81DD-4043-B34F-A3E2B01F5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76400"/>
            <a:ext cx="3048000" cy="1352550"/>
          </a:xfrm>
          <a:prstGeom xmlns:a="http://schemas.openxmlformats.org/drawingml/2006/main" prst="roundRect">
            <a:avLst>
              <a:gd name="adj" fmla="val 8451"/>
            </a:avLst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D67D58-1E7E-4F32-8055-F0AA856E1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866900"/>
            <a:ext cx="26289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A8BDD4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A8BDD4"/>
                </a:solidFill>
                <a:latin typeface="Arial"/>
                <a:ea typeface="Arial"/>
                <a:cs typeface="Arial"/>
              </a:rPr>
              <a:t>GRANT REQUEST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34E3D5-5E89-4F20-A356-AE254756D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171700"/>
            <a:ext cx="2628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3K-5K SUI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D3CD50-A14D-4CFE-BA0C-51FA4CE02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38500"/>
            <a:ext cx="1428750" cy="1257300"/>
          </a:xfrm>
          <a:prstGeom xmlns:a="http://schemas.openxmlformats.org/drawingml/2006/main" prst="roundRect">
            <a:avLst>
              <a:gd name="adj" fmla="val 9091"/>
            </a:avLst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6A1D73-EBC2-4E3D-92F6-3842A0DAA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29000"/>
            <a:ext cx="1009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A8BDD4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A8BDD4"/>
                </a:solidFill>
                <a:latin typeface="Arial"/>
                <a:ea typeface="Arial"/>
                <a:cs typeface="Arial"/>
              </a:rPr>
              <a:t>PUBLIC HOLDERS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2B16F28-3ECA-476E-BD61-C37F1E379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733800"/>
            <a:ext cx="1009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3EE5C35-F152-45A8-9807-E030C7436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3238500"/>
            <a:ext cx="1428750" cy="1257300"/>
          </a:xfrm>
          <a:prstGeom xmlns:a="http://schemas.openxmlformats.org/drawingml/2006/main" prst="roundRect">
            <a:avLst>
              <a:gd name="adj" fmla="val 9091"/>
            </a:avLst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AC4373-9DFA-4216-8125-FE7CBDEC4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429000"/>
            <a:ext cx="10096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A8BDD4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A8BDD4"/>
                </a:solidFill>
                <a:latin typeface="Arial"/>
                <a:ea typeface="Arial"/>
                <a:cs typeface="Arial"/>
              </a:rPr>
              <a:t>TRANSFERS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EA51F32-3950-4361-A1B2-8DC007EAF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3733800"/>
            <a:ext cx="1009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BA250A-0C21-4EE8-9EF9-3F0A0B09D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34000"/>
            <a:ext cx="6858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EEF7FF"/>
                </a:solidFill>
                <a:latin typeface="Arial"/>
                <a:ea typeface="Arial"/>
                <a:cs typeface="Arial"/>
              </a:rPr>
              <a:t>Founder: Alan Kribo | Bali, Indonesia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E291845-236E-4ED6-88EB-FC5BB7B0B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7690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A8BDD4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8BDD4"/>
                </a:solidFill>
                <a:latin typeface="Arial"/>
                <a:ea typeface="Arial"/>
                <a:cs typeface="Arial"/>
              </a:rPr>
              <a:t>Website: aktoken.id | Proposal: aktoken.id/grant.html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083F6C-C1B2-4DB9-BAB4-772DF4693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781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8BDD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8BDD4"/>
                </a:solidFill>
                <a:latin typeface="Arial"/>
                <a:ea typeface="Arial"/>
                <a:cs typeface="Arial"/>
              </a:rPr>
              <a:t>AK Token Ecosystem | Polygon live, Sui-facing proposal | Not investment advice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A08871-1BBA-4A26-AE63-5C3D04EFD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817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74387118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5FFDB46-D5F2-4868-B4C7-598E5D439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E6D9FC-7AA6-409E-B492-2B24F2B3D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0939DC-519B-4D59-AEBF-4985353DA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1809750"/>
            <a:ext cx="4953000" cy="4953000"/>
          </a:xfrm>
          <a:prstGeom xmlns:a="http://schemas.openxmlformats.org/drawingml/2006/main" prst="arc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E6B26DA-D701-415F-8148-CA1CB1433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PROBLEM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73F20B6-9E7F-473A-BE09-17D463986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904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EEF7FF"/>
                </a:solidFill>
                <a:latin typeface="Arial"/>
                <a:ea typeface="Arial"/>
                <a:cs typeface="Arial"/>
              </a:rPr>
              <a:t>Web3 adoption needs practical local use cases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CC3C84-EBA1-4C33-A5F6-5F5E7557A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7160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8BDD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8BDD4"/>
                </a:solidFill>
                <a:latin typeface="Arial"/>
                <a:ea typeface="Arial"/>
                <a:cs typeface="Arial"/>
              </a:rPr>
              <a:t>Many Indonesian beginners and MSMEs see crypto as speculation, not as education, loyalty, and community utility.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CEBEBA3-6F22-48B1-A5BB-7D423334C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781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8BDD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8BDD4"/>
                </a:solidFill>
                <a:latin typeface="Arial"/>
                <a:ea typeface="Arial"/>
                <a:cs typeface="Arial"/>
              </a:rPr>
              <a:t>AK Token Ecosystem | Polygon live, Sui-facing proposal | Not investment advice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E823AC-1F77-49C2-8408-D99B6957B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817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B76264-CFBF-4F30-82D5-5ECC1F130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114550"/>
            <a:ext cx="5048250" cy="2952750"/>
          </a:xfrm>
          <a:prstGeom xmlns:a="http://schemas.openxmlformats.org/drawingml/2006/main" prst="roundRect">
            <a:avLst>
              <a:gd name="adj" fmla="val 3871"/>
            </a:avLst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1E7A6A7-8499-421D-AB29-31A98A316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05075"/>
            <a:ext cx="171450" cy="171450"/>
          </a:xfrm>
          <a:prstGeom xmlns:a="http://schemas.openxmlformats.org/drawingml/2006/main" prst="ellipse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63FDDD-0549-4ADC-9B67-FBB4E851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457450"/>
            <a:ext cx="4076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MSMEs lack simple Web3 loyalty examples.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AEDEBE-6DE5-4D6D-A85A-2123E441A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38475"/>
            <a:ext cx="171450" cy="171450"/>
          </a:xfrm>
          <a:prstGeom xmlns:a="http://schemas.openxmlformats.org/drawingml/2006/main" prst="ellipse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8E7425-5439-4A2E-AAC8-E86E7FB2C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90850"/>
            <a:ext cx="4076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Beginners need safe education, not price hype.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78F33B-C460-4A3B-91A0-544D66152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571875"/>
            <a:ext cx="171450" cy="171450"/>
          </a:xfrm>
          <a:prstGeom xmlns:a="http://schemas.openxmlformats.org/drawingml/2006/main" prst="ellipse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559332-3EE0-4AAA-8F5F-5B1BF7C59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524250"/>
            <a:ext cx="4076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Cultural NFT projects need utility context.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2EE9029-2189-4727-B2AC-25C1CC98A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05275"/>
            <a:ext cx="171450" cy="171450"/>
          </a:xfrm>
          <a:prstGeom xmlns:a="http://schemas.openxmlformats.org/drawingml/2006/main" prst="ellipse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A0F993-0D2D-4566-805F-1256E5E53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57650"/>
            <a:ext cx="4076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Public reporting is often missing in small projects.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1AEC7B8-49A9-4329-A196-A58D332A2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14550"/>
            <a:ext cx="4857750" cy="2952750"/>
          </a:xfrm>
          <a:prstGeom xmlns:a="http://schemas.openxmlformats.org/drawingml/2006/main" prst="roundRect">
            <a:avLst>
              <a:gd name="adj" fmla="val 3871"/>
            </a:avLst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4043394-254C-430A-9788-4BE97CF30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457450"/>
            <a:ext cx="4191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Opportunity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E53D3C9-0949-4B8A-ACF5-B52C5A7AB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3028950"/>
            <a:ext cx="3810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EF7FF"/>
                </a:solidFill>
                <a:latin typeface="Arial"/>
                <a:ea typeface="Arial"/>
                <a:cs typeface="Arial"/>
              </a:rPr>
              <a:t>Build a transparent pilot that connects real products, digital products, NFT culture, and beginner-friendly Sui education.</a:t>
            </a:r>
          </a:p>
        </p:txBody>
      </p:sp>
    </p:spTree>
    <p:extLst>
      <p:ext uri="{BB962C8B-B14F-4D97-AF65-F5344CB8AC3E}">
        <p14:creationId xmlns:p14="http://schemas.microsoft.com/office/powerpoint/2010/main" val="22268832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C1E6C0B-75E7-4B27-85AC-A12F27B98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DB1206-A104-4E19-9A5D-2472B7773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DB04C9-F76C-40B8-8A22-EA34E05C3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1809750"/>
            <a:ext cx="4953000" cy="4953000"/>
          </a:xfrm>
          <a:prstGeom xmlns:a="http://schemas.openxmlformats.org/drawingml/2006/main" prst="arc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2076CBC-7A98-4A7B-AA34-82D2BBB94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SOLUTION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6245A9-C55D-4134-90E3-07A923D26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904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EEF7FF"/>
                </a:solidFill>
                <a:latin typeface="Arial"/>
                <a:ea typeface="Arial"/>
                <a:cs typeface="Arial"/>
              </a:rPr>
              <a:t>AK Token connects real-world utility with Web3 education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381369-F2D3-4877-91AF-F3B1B0207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7160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8BDD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8BDD4"/>
                </a:solidFill>
                <a:latin typeface="Arial"/>
                <a:ea typeface="Arial"/>
                <a:cs typeface="Arial"/>
              </a:rPr>
              <a:t>A community utility experiment using public dashboards, MSME loyalty, digital product bonuses, and NFT storytelling.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DDCD8A-2BFF-443E-B633-1431A1FFD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781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8BDD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8BDD4"/>
                </a:solidFill>
                <a:latin typeface="Arial"/>
                <a:ea typeface="Arial"/>
                <a:cs typeface="Arial"/>
              </a:rPr>
              <a:t>AK Token Ecosystem | Polygon live, Sui-facing proposal | Not investment advice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FDC8B86-36FF-4033-AA38-037A83CFB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817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EFC04E-422D-4E9D-BB7B-C73D5E34E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247900"/>
            <a:ext cx="3143250" cy="1123950"/>
          </a:xfrm>
          <a:prstGeom xmlns:a="http://schemas.openxmlformats.org/drawingml/2006/main" prst="roundRect">
            <a:avLst>
              <a:gd name="adj" fmla="val 10169"/>
            </a:avLst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751B94-12A0-4490-9DD1-898D68C22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574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MSME Loyalty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A340B9-34F9-4FBD-BF39-77E98CB1D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81940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8BDD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8BDD4"/>
                </a:solidFill>
                <a:latin typeface="Arial"/>
                <a:ea typeface="Arial"/>
                <a:cs typeface="Arial"/>
              </a:rPr>
              <a:t>Lungkomas and partner pilots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621B75-E5C7-4FCB-AD91-213B679C6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2247900"/>
            <a:ext cx="3143250" cy="1123950"/>
          </a:xfrm>
          <a:prstGeom xmlns:a="http://schemas.openxmlformats.org/drawingml/2006/main" prst="roundRect">
            <a:avLst>
              <a:gd name="adj" fmla="val 10169"/>
            </a:avLst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A37278-AC5D-4459-A5EE-AD2FD2A9E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574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Digital Products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62AF9B8-D3A1-4C97-919F-17AF08E8E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1940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8BDD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8BDD4"/>
                </a:solidFill>
                <a:latin typeface="Arial"/>
                <a:ea typeface="Arial"/>
                <a:cs typeface="Arial"/>
              </a:rPr>
              <a:t>Alan Digital Shop bonuses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0BCACED-9F44-42FC-8D82-A5F410EAC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247900"/>
            <a:ext cx="3143250" cy="1123950"/>
          </a:xfrm>
          <a:prstGeom xmlns:a="http://schemas.openxmlformats.org/drawingml/2006/main" prst="roundRect">
            <a:avLst>
              <a:gd name="adj" fmla="val 10169"/>
            </a:avLst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B3A76C1-BE35-4F60-99EF-2BFF7364D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4574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NFT Culture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51CE0B-B788-424C-93FF-AFA573FD1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81940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8BDD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8BDD4"/>
                </a:solidFill>
                <a:latin typeface="Arial"/>
                <a:ea typeface="Arial"/>
                <a:cs typeface="Arial"/>
              </a:rPr>
              <a:t>6 ZOQstudio collections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CF68D6-CBDE-4794-B9A3-C2D4F8ECB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771900"/>
            <a:ext cx="3143250" cy="1123950"/>
          </a:xfrm>
          <a:prstGeom xmlns:a="http://schemas.openxmlformats.org/drawingml/2006/main" prst="roundRect">
            <a:avLst>
              <a:gd name="adj" fmla="val 10169"/>
            </a:avLst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084B741-461C-4667-A90D-866C9C0D8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814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Education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B35B570-C9A6-4E2C-9C63-6B68DF00D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4340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8BDD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8BDD4"/>
                </a:solidFill>
                <a:latin typeface="Arial"/>
                <a:ea typeface="Arial"/>
                <a:cs typeface="Arial"/>
              </a:rPr>
              <a:t>alankribo.com and Sui content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9767C4C-1176-43C2-9A59-57E29812E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3771900"/>
            <a:ext cx="3143250" cy="1123950"/>
          </a:xfrm>
          <a:prstGeom xmlns:a="http://schemas.openxmlformats.org/drawingml/2006/main" prst="roundRect">
            <a:avLst>
              <a:gd name="adj" fmla="val 10169"/>
            </a:avLst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4320534-464C-481F-BC64-F96BC7B98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9814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Transparency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8F48E48-F607-4A52-A5AD-2E539EC92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434340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8BDD4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8BDD4"/>
                </a:solidFill>
                <a:latin typeface="Arial"/>
                <a:ea typeface="Arial"/>
                <a:cs typeface="Arial"/>
              </a:rPr>
              <a:t>Dashboard, data.json, PolygonScan</a:t>
            </a:r>
          </a:p>
        </p:txBody>
      </p:sp>
    </p:spTree>
    <p:extLst>
      <p:ext uri="{BB962C8B-B14F-4D97-AF65-F5344CB8AC3E}">
        <p14:creationId xmlns:p14="http://schemas.microsoft.com/office/powerpoint/2010/main" val="207839337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8E29270-8F23-445A-8C0A-C11B7886F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49FE14-E607-47CB-A0FC-DDAB0E8DF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35C68F-EC82-49F1-8725-8E0FFE309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1809750"/>
            <a:ext cx="4953000" cy="4953000"/>
          </a:xfrm>
          <a:prstGeom xmlns:a="http://schemas.openxmlformats.org/drawingml/2006/main" prst="arc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E307ADB-27FB-4451-81DB-142A0031A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EVIDENCE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58A314-6435-46F2-B646-845B8896C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904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EEF7FF"/>
                </a:solidFill>
                <a:latin typeface="Arial"/>
                <a:ea typeface="Arial"/>
                <a:cs typeface="Arial"/>
              </a:rPr>
              <a:t>The project already has public assets and on-chain activity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AAB443-9040-407B-8C6B-90A367D0E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7160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8BDD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8BDD4"/>
                </a:solidFill>
                <a:latin typeface="Arial"/>
                <a:ea typeface="Arial"/>
                <a:cs typeface="Arial"/>
              </a:rPr>
              <a:t>Current public data is visible on aktoken.id and PolygonScan.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CD171E-2542-403E-9309-8C259A892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781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8BDD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8BDD4"/>
                </a:solidFill>
                <a:latin typeface="Arial"/>
                <a:ea typeface="Arial"/>
                <a:cs typeface="Arial"/>
              </a:rPr>
              <a:t>AK Token Ecosystem | Polygon live, Sui-facing proposal | Not investment advice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44C8D7-624C-43F2-BAF0-15F7CC7CBF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817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1A1CA0-4651-4749-B4C5-41F250326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71700"/>
            <a:ext cx="2362200" cy="1257300"/>
          </a:xfrm>
          <a:prstGeom xmlns:a="http://schemas.openxmlformats.org/drawingml/2006/main" prst="roundRect">
            <a:avLst>
              <a:gd name="adj" fmla="val 9091"/>
            </a:avLst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F4AEAF-06D8-4202-9C84-CD9D460D1B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362200"/>
            <a:ext cx="1943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A8BDD4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A8BDD4"/>
                </a:solidFill>
                <a:latin typeface="Arial"/>
                <a:ea typeface="Arial"/>
                <a:cs typeface="Arial"/>
              </a:rPr>
              <a:t>HOLDERS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308747-26F7-4874-AA27-A5D27CE28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67000"/>
            <a:ext cx="1943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ECA0B6-5BAF-475D-9DC0-4A7E5CC26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5650" y="2171700"/>
            <a:ext cx="2362200" cy="1257300"/>
          </a:xfrm>
          <a:prstGeom xmlns:a="http://schemas.openxmlformats.org/drawingml/2006/main" prst="roundRect">
            <a:avLst>
              <a:gd name="adj" fmla="val 9091"/>
            </a:avLst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319BAC2-3B2D-4E44-84CD-2EB55109F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362200"/>
            <a:ext cx="1943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A8BDD4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A8BDD4"/>
                </a:solidFill>
                <a:latin typeface="Arial"/>
                <a:ea typeface="Arial"/>
                <a:cs typeface="Arial"/>
              </a:rPr>
              <a:t>TRANSFERS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1847F1-F1C8-4604-BF69-785ED5E8C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2667000"/>
            <a:ext cx="1943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843A5D-C967-42CE-8F21-8E7850F8FC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171700"/>
            <a:ext cx="2362200" cy="1257300"/>
          </a:xfrm>
          <a:prstGeom xmlns:a="http://schemas.openxmlformats.org/drawingml/2006/main" prst="roundRect">
            <a:avLst>
              <a:gd name="adj" fmla="val 9091"/>
            </a:avLst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48F298-93E4-4EEA-86AB-F8772FBF4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362200"/>
            <a:ext cx="1943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A8BDD4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A8BDD4"/>
                </a:solidFill>
                <a:latin typeface="Arial"/>
                <a:ea typeface="Arial"/>
                <a:cs typeface="Arial"/>
              </a:rPr>
              <a:t>DISTRIBUTION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0D1F2A-D096-455E-B230-05168CCA1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667000"/>
            <a:ext cx="1943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500 AK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A54FCC-D306-4781-BB86-02B096ECC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171700"/>
            <a:ext cx="2362200" cy="1257300"/>
          </a:xfrm>
          <a:prstGeom xmlns:a="http://schemas.openxmlformats.org/drawingml/2006/main" prst="roundRect">
            <a:avLst>
              <a:gd name="adj" fmla="val 9091"/>
            </a:avLst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84D84E5-C8A4-46C3-850B-6FB027714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362200"/>
            <a:ext cx="1943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A8BDD4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A8BDD4"/>
                </a:solidFill>
                <a:latin typeface="Arial"/>
                <a:ea typeface="Arial"/>
                <a:cs typeface="Arial"/>
              </a:rPr>
              <a:t>RECIPIENTS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53F17B-012D-49DE-B5FB-36A1A910F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667000"/>
            <a:ext cx="19431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2D8ADD-E63A-4C0E-AD2F-BE629D502A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05250"/>
            <a:ext cx="2286000" cy="2984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7660D9-0D06-483E-9902-64BAB98EE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90975"/>
            <a:ext cx="2057400" cy="18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EF7FF"/>
                </a:solidFill>
                <a:latin typeface="Arial"/>
                <a:ea typeface="Arial"/>
                <a:cs typeface="Arial"/>
              </a:rPr>
              <a:t>Asset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7B6D76-D741-48C0-BD58-7E923A80F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905250"/>
            <a:ext cx="8077200" cy="2984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B989C3-E83D-422C-920C-45C6A92F0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3990975"/>
            <a:ext cx="7848600" cy="18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EF7FF"/>
                </a:solidFill>
                <a:latin typeface="Arial"/>
                <a:ea typeface="Arial"/>
                <a:cs typeface="Arial"/>
              </a:rPr>
              <a:t>Public Link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84127F3-1F6A-46A9-8EBA-208DE4159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03700"/>
            <a:ext cx="2286000" cy="2984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EA2BA6-D16B-491A-A0F4-D2C55647E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89425"/>
            <a:ext cx="2057400" cy="18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Website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83B6BD3-E985-4A3D-9E15-696E605BC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203700"/>
            <a:ext cx="8077200" cy="2984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922177E-76B6-4ACC-8A01-73DA596AF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289425"/>
            <a:ext cx="7848600" cy="18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https://aktoken.id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A46BFD7-61C7-469A-9019-8BDA5AD3A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2150"/>
            <a:ext cx="2286000" cy="2984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C72F3CD-9DEA-4839-9975-7D6AE53498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587875"/>
            <a:ext cx="2057400" cy="18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Dashboard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9F5D24B-E913-429E-8A89-6614B7A75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502150"/>
            <a:ext cx="8077200" cy="2984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5005B54-EF91-4D01-8927-D760AE048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587875"/>
            <a:ext cx="7848600" cy="18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https://aktoken.id/dashboard.html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E098DFA-A49E-4A07-9D9B-6A97DDDE6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00600"/>
            <a:ext cx="2286000" cy="2984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EA8279C-88C7-4ACF-AFD4-4E276C574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886325"/>
            <a:ext cx="2057400" cy="18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Sui Proposal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08DA016D-54AC-47E5-A5C3-DCC0C3620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4800600"/>
            <a:ext cx="8077200" cy="2984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BD5B27D-D1B1-4B4C-BEEA-B7BE72F75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4886325"/>
            <a:ext cx="7848600" cy="18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https://aktoken.id/grant.html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02D5B48-4DCE-4824-9449-19C8F3483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9050"/>
            <a:ext cx="2286000" cy="2984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0FFAF19-F50C-473C-A7F9-DEC271D0F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84775"/>
            <a:ext cx="2057400" cy="18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Proposal PDF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5547213-28A4-42C0-AAD3-AE9FF1959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099050"/>
            <a:ext cx="8077200" cy="2984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472D389-1B97-4EEB-A5F9-5418826F0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5184775"/>
            <a:ext cx="7848600" cy="18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https://aktoken.id/ak-token-sui-grant-proposal.pdf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81C9861-8B58-4EAE-A6BE-EF7D0EEFC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97500"/>
            <a:ext cx="2286000" cy="2984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BCBAC2D-ADED-41E1-8499-D4470F1E8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483225"/>
            <a:ext cx="2057400" cy="18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X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3EB49222-3510-4713-A99E-59B7A2388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5397500"/>
            <a:ext cx="8077200" cy="298450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8FF2604-11EE-44CF-A1A5-9DC97CDC2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5483225"/>
            <a:ext cx="7848600" cy="184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https://x.com/ZOQstudio</a:t>
            </a:r>
          </a:p>
        </p:txBody>
      </p:sp>
    </p:spTree>
    <p:extLst>
      <p:ext uri="{BB962C8B-B14F-4D97-AF65-F5344CB8AC3E}">
        <p14:creationId xmlns:p14="http://schemas.microsoft.com/office/powerpoint/2010/main" val="76418322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7D6310-4C7D-444C-A18C-CBD7C8C6A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0494079-0C01-489B-B146-F7E7317CF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FC27F0-21CE-42DD-8899-42BB3A6D0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1809750"/>
            <a:ext cx="4953000" cy="4953000"/>
          </a:xfrm>
          <a:prstGeom xmlns:a="http://schemas.openxmlformats.org/drawingml/2006/main" prst="arc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F594916-3059-43E8-9E15-2D602244E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MSME PILOT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AFAF2A-D457-48D1-88C8-0808B2CB3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904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EEF7FF"/>
                </a:solidFill>
                <a:latin typeface="Arial"/>
                <a:ea typeface="Arial"/>
                <a:cs typeface="Arial"/>
              </a:rPr>
              <a:t>500 AK distributed to 5 confirmed recipients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419A29-A586-4305-A2A6-39FDE4242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7160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8BDD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8BDD4"/>
                </a:solidFill>
                <a:latin typeface="Arial"/>
                <a:ea typeface="Arial"/>
                <a:cs typeface="Arial"/>
              </a:rPr>
              <a:t>The pilot tests community utility and loyalty concepts with food, retail, and marketing participants.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351F08-3144-4E00-8F5E-3A6DEEE98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781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8BDD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8BDD4"/>
                </a:solidFill>
                <a:latin typeface="Arial"/>
                <a:ea typeface="Arial"/>
                <a:cs typeface="Arial"/>
              </a:rPr>
              <a:t>AK Token Ecosystem | Polygon live, Sui-facing proposal | Not investment advice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2B8B84-7FC6-4936-BD2B-230F45C61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817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DE6BD3-424E-4AC6-A9F1-76BB3D93B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14550"/>
            <a:ext cx="247650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3FFCE7-6242-434E-9BD6-E493367DC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0275"/>
            <a:ext cx="224790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EF7FF"/>
                </a:solidFill>
                <a:latin typeface="Arial"/>
                <a:ea typeface="Arial"/>
                <a:cs typeface="Arial"/>
              </a:rPr>
              <a:t>Recipient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B51CB1-0DC9-423B-9E89-DE23BD480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114550"/>
            <a:ext cx="579120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86126B-7D01-40B5-9F57-1ED4BED94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200275"/>
            <a:ext cx="556260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EF7FF"/>
                </a:solidFill>
                <a:latin typeface="Arial"/>
                <a:ea typeface="Arial"/>
                <a:cs typeface="Arial"/>
              </a:rPr>
              <a:t>Category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30ED018-7B26-4357-8830-114A72581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114550"/>
            <a:ext cx="114300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3C6F09-4BE7-4CCF-80FC-BCA55BE30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200275"/>
            <a:ext cx="91440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EF7FF"/>
                </a:solidFill>
                <a:latin typeface="Arial"/>
                <a:ea typeface="Arial"/>
                <a:cs typeface="Arial"/>
              </a:rPr>
              <a:t>AK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2DC7768-19B9-4F33-9EB0-F3566C6DB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68575"/>
            <a:ext cx="247650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6732DB-7617-4521-8B51-81B12867C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54300"/>
            <a:ext cx="224790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Ari Guntoro / KRIPIS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BA56EA-ECE8-4248-B623-2944303D4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2568575"/>
            <a:ext cx="579120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047F1D-510E-4155-86D1-762D55A38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654300"/>
            <a:ext cx="556260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Banana chips MSME - Blitar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85537E-0B79-4D32-AC93-A8F578B92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2568575"/>
            <a:ext cx="114300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2B16E6-1BA1-4A31-B165-DC6B8AE71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654300"/>
            <a:ext cx="91440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BEAD920-DB62-4338-9759-9214ADAFA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22600"/>
            <a:ext cx="247650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FF44016-BFB6-421B-BF46-67B8353A4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108325"/>
            <a:ext cx="224790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Sidig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9C79655-B7D8-4682-9100-BA1CC648E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022600"/>
            <a:ext cx="579120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B2D8C57-AE02-4DD2-86D2-F11B31AD9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108325"/>
            <a:ext cx="556260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Electric bicycle store and sparepart - Bali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5C50B15-C450-48F9-B1F7-B841151EF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022600"/>
            <a:ext cx="114300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80F724-32B3-4B15-AB16-61EE4F488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108325"/>
            <a:ext cx="91440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6D80E16-668E-4E00-8179-C3155184A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76625"/>
            <a:ext cx="247650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3F6EBBA-B520-4DE1-807D-14CF340A8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62350"/>
            <a:ext cx="224790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Enggal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B9C0EC8-9D59-4F48-B1E8-9532363F4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476625"/>
            <a:ext cx="579120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9EA8D96-E983-48B5-8983-E8B05D24E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3562350"/>
            <a:ext cx="556260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Frozen food reseller - Bali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A1CD4B7F-79C9-4E6B-8A38-8BF34D25B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476625"/>
            <a:ext cx="114300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9BA487E-EA4C-43E6-87C1-110B6CC29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562350"/>
            <a:ext cx="91440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68D67DA-1FF8-40A4-AD49-AE97078B5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30650"/>
            <a:ext cx="247650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46AD25D-7AA1-4691-837F-8986F309A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016375"/>
            <a:ext cx="224790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Zain Ranis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595145B-B7A1-4F96-887F-6791FB634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3930650"/>
            <a:ext cx="579120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4424B57-D157-4C14-AE6A-F83EA2476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016375"/>
            <a:ext cx="556260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Marketing supporter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1BF7582-90DD-4DB6-9991-EADBD59DF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3930650"/>
            <a:ext cx="114300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BC855FC-9F9F-45C2-8FC6-328707D90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016375"/>
            <a:ext cx="91440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784B425-AACF-4156-8937-43511677A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4675"/>
            <a:ext cx="247650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B6FB275-6A85-4D84-8689-5766D9C9E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70400"/>
            <a:ext cx="224790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Laminah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DF63020-64C6-46BB-8721-D7B00EEFA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4384675"/>
            <a:ext cx="579120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F838A3F-970D-4E95-AF94-D3F2D0F759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470400"/>
            <a:ext cx="556260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Siomay shop MSME - Denpasar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D530581-8496-46C9-A8EF-4CB5FFE61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384675"/>
            <a:ext cx="114300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6CF267B-4D09-4AC5-ADEF-F42BE85C0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470400"/>
            <a:ext cx="91440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100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93BF977-4D62-45E7-AC0A-F5B7BB6AA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219700"/>
            <a:ext cx="971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EEF7FF"/>
                </a:solidFill>
                <a:latin typeface="Arial"/>
                <a:ea typeface="Arial"/>
                <a:cs typeface="Arial"/>
              </a:rPr>
              <a:t>Use case direction: selected customer bonuses, digital product bonuses, future redeem pilots, and safe Web3 onboarding.</a:t>
            </a:r>
          </a:p>
        </p:txBody>
      </p:sp>
    </p:spTree>
    <p:extLst>
      <p:ext uri="{BB962C8B-B14F-4D97-AF65-F5344CB8AC3E}">
        <p14:creationId xmlns:p14="http://schemas.microsoft.com/office/powerpoint/2010/main" val="9157365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F6A5A577-7981-4126-9588-7213480A6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63E186-131A-4AA8-A1DC-2BB917F2D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D0B61D-B4CF-4B11-AB14-452714F5E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1809750"/>
            <a:ext cx="4953000" cy="4953000"/>
          </a:xfrm>
          <a:prstGeom xmlns:a="http://schemas.openxmlformats.org/drawingml/2006/main" prst="arc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F2C8F4-9E43-488B-AFAB-99BF8536C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CULTURAL NFT ECOSYSTEM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B2EF0A4-0575-447A-8B8C-AF5B7DBF7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904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EEF7FF"/>
                </a:solidFill>
                <a:latin typeface="Arial"/>
                <a:ea typeface="Arial"/>
                <a:cs typeface="Arial"/>
              </a:rPr>
              <a:t>NFT storytelling creates a local path into Web3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8B9BCC-0360-45BB-9F54-DFFA8F97C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7160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8BDD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8BDD4"/>
                </a:solidFill>
                <a:latin typeface="Arial"/>
                <a:ea typeface="Arial"/>
                <a:cs typeface="Arial"/>
              </a:rPr>
              <a:t>The ZOQstudio collections provide a cultural layer for future membership, education, and Sui-facing concepts.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36B551-5BC6-4C2F-9FF8-D1EEC1EFF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781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8BDD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8BDD4"/>
                </a:solidFill>
                <a:latin typeface="Arial"/>
                <a:ea typeface="Arial"/>
                <a:cs typeface="Arial"/>
              </a:rPr>
              <a:t>AK Token Ecosystem | Polygon live, Sui-facing proposal | Not investment advice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1C851A-5EDD-4666-B1D3-4C87677F8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817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08048B-9837-43C9-A5B2-EC367CDA2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09800"/>
            <a:ext cx="47625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EB5A38-3D85-4EE2-83D3-2DBB6804A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40030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Jawa Cosmic Legends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68698B-12DF-4C65-9234-E018B7B3B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209800"/>
            <a:ext cx="47625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5C40DE-A4A7-42D6-9063-A84AFCD70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0030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EEF7FF"/>
                </a:solidFill>
                <a:latin typeface="Arial"/>
                <a:ea typeface="Arial"/>
                <a:cs typeface="Arial"/>
              </a:rPr>
              <a:t>Zurp #001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06227D5-7F5C-49EB-945D-7515C0EFF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62300"/>
            <a:ext cx="47625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5D08DF-F120-4206-9626-DBAA091F0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35280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EEF7FF"/>
                </a:solidFill>
                <a:latin typeface="Arial"/>
                <a:ea typeface="Arial"/>
                <a:cs typeface="Arial"/>
              </a:rPr>
              <a:t>Zurp #002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F7BB11-35AB-4621-9017-98A2B1131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162300"/>
            <a:ext cx="47625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736407-898F-49F2-A768-24C309DEE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35280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EEF7FF"/>
                </a:solidFill>
                <a:latin typeface="Arial"/>
                <a:ea typeface="Arial"/>
                <a:cs typeface="Arial"/>
              </a:rPr>
              <a:t>Zurp #003 The Foes of Prince Zoq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A0363B-9B2F-4E90-878E-88273FE28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47625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54A4A2-491D-4A57-9CDE-CCEEA32E5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EEF7FF"/>
                </a:solidFill>
                <a:latin typeface="Arial"/>
                <a:ea typeface="Arial"/>
                <a:cs typeface="Arial"/>
              </a:rPr>
              <a:t>Javanese Legends Collection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5D1506-36C9-4EBA-87BA-95491D3FB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114800"/>
            <a:ext cx="47625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7B4E146-796A-4434-A730-7046E13B1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30530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EEF7FF"/>
                </a:solidFill>
                <a:latin typeface="Arial"/>
                <a:ea typeface="Arial"/>
                <a:cs typeface="Arial"/>
              </a:rPr>
              <a:t>Putri Bali</a:t>
            </a:r>
          </a:p>
        </p:txBody>
      </p:sp>
    </p:spTree>
    <p:extLst>
      <p:ext uri="{BB962C8B-B14F-4D97-AF65-F5344CB8AC3E}">
        <p14:creationId xmlns:p14="http://schemas.microsoft.com/office/powerpoint/2010/main" val="94795936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32C60D83-FEEA-4906-8543-1A70C63C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564BE8-C961-42D2-9E07-52C157721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A1B138-809A-4B15-A285-6186E7E93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1809750"/>
            <a:ext cx="4953000" cy="4953000"/>
          </a:xfrm>
          <a:prstGeom xmlns:a="http://schemas.openxmlformats.org/drawingml/2006/main" prst="arc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2B0AA1-1F6C-4123-919B-60018255F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WHY SUI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23CEC5-744E-4796-BFA4-7FE837155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904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EEF7FF"/>
                </a:solidFill>
                <a:latin typeface="Arial"/>
                <a:ea typeface="Arial"/>
                <a:cs typeface="Arial"/>
              </a:rPr>
              <a:t>Sui can support education, NFTs, and utility experiments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370944D-0046-4068-9FF9-FEA79DC65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7160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8BDD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8BDD4"/>
                </a:solidFill>
                <a:latin typeface="Arial"/>
                <a:ea typeface="Arial"/>
                <a:cs typeface="Arial"/>
              </a:rPr>
              <a:t>The proposal is Sui-facing while AK Token currently operates on Polygon.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55516C-5226-44A6-9DDF-333D68C24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781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8BDD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8BDD4"/>
                </a:solidFill>
                <a:latin typeface="Arial"/>
                <a:ea typeface="Arial"/>
                <a:cs typeface="Arial"/>
              </a:rPr>
              <a:t>AK Token Ecosystem | Polygon live, Sui-facing proposal | Not investment advice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110D49A-C96E-4023-A23E-456F4CB72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817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BDD87C-7691-4499-903C-4BD7A001A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90750"/>
            <a:ext cx="3219450" cy="2266950"/>
          </a:xfrm>
          <a:prstGeom xmlns:a="http://schemas.openxmlformats.org/drawingml/2006/main" prst="roundRect">
            <a:avLst>
              <a:gd name="adj" fmla="val 5042"/>
            </a:avLst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9F7720-DB05-4286-92D1-237F86AA5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190750"/>
            <a:ext cx="3219450" cy="2266950"/>
          </a:xfrm>
          <a:prstGeom xmlns:a="http://schemas.openxmlformats.org/drawingml/2006/main" prst="roundRect">
            <a:avLst>
              <a:gd name="adj" fmla="val 5042"/>
            </a:avLst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2A39FC7-E290-48B5-AA0F-298570976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90750"/>
            <a:ext cx="3219450" cy="2266950"/>
          </a:xfrm>
          <a:prstGeom xmlns:a="http://schemas.openxmlformats.org/drawingml/2006/main" prst="roundRect">
            <a:avLst>
              <a:gd name="adj" fmla="val 5042"/>
            </a:avLst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5A3C53-8287-4509-BA2C-7C0B47091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5527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Education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0C96E7-A149-46E9-84AF-3BC81D7AC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086100"/>
            <a:ext cx="247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Beginner Sui guides for Indonesian users, including wallets, safety, and practical concepts.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7984C9-64D4-43D8-8E9E-BB039D2B7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5527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NFT Utility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1D034C8-9DC2-47ED-8028-50A9A6720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86100"/>
            <a:ext cx="247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Cultural NFT concept pages and future membership experiments for community storytelling.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550045C-8D87-4535-B7A7-63620589C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255270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Onboarding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22E2703-E22B-4B9B-B4C0-22B0D85AC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086100"/>
            <a:ext cx="2476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MSME and community onboarding with transparent public reporting and milestone updates.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735C3E-CB00-456F-AC91-E5AFFB74D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05400"/>
            <a:ext cx="914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C857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C857"/>
                </a:solidFill>
                <a:latin typeface="Arial"/>
                <a:ea typeface="Arial"/>
                <a:cs typeface="Arial"/>
              </a:rPr>
              <a:t>Important: AK Token is not officially supported by Sui unless a grant, partnership, or formal approval is granted.</a:t>
            </a:r>
          </a:p>
        </p:txBody>
      </p:sp>
    </p:spTree>
    <p:extLst>
      <p:ext uri="{BB962C8B-B14F-4D97-AF65-F5344CB8AC3E}">
        <p14:creationId xmlns:p14="http://schemas.microsoft.com/office/powerpoint/2010/main" val="1394793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5ACB5336-27BD-4D20-A1A6-539905A9F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352D4A-693F-4341-B9DE-F79C4473F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F802F31-72E7-4646-A4A1-22916344F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1809750"/>
            <a:ext cx="4953000" cy="4953000"/>
          </a:xfrm>
          <a:prstGeom xmlns:a="http://schemas.openxmlformats.org/drawingml/2006/main" prst="arc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67A6C0-63EB-4443-B327-3E15400ED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3-MONTH EXECUTION PLAN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D9BDB9-265B-46FA-A570-484F92082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904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EEF7FF"/>
                </a:solidFill>
                <a:latin typeface="Arial"/>
                <a:ea typeface="Arial"/>
                <a:cs typeface="Arial"/>
              </a:rPr>
              <a:t>A focused path from education to reporting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1CC7EF-7748-49B9-A859-EC4B0C0CD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7160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8BDD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8BDD4"/>
                </a:solidFill>
                <a:latin typeface="Arial"/>
                <a:ea typeface="Arial"/>
                <a:cs typeface="Arial"/>
              </a:rPr>
              <a:t>The grant is scoped for clear public deliverables.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65A22E-B191-4C83-B2FE-4C3BB3CAD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781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8BDD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8BDD4"/>
                </a:solidFill>
                <a:latin typeface="Arial"/>
                <a:ea typeface="Arial"/>
                <a:cs typeface="Arial"/>
              </a:rPr>
              <a:t>AK Token Ecosystem | Polygon live, Sui-facing proposal | Not investment advice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A863D19-D3DC-4DD0-8579-B8D33EE02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817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CAB9F0-A1C4-4F52-B2FD-6452FFB4B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24100"/>
            <a:ext cx="3048000" cy="2381250"/>
          </a:xfrm>
          <a:prstGeom xmlns:a="http://schemas.openxmlformats.org/drawingml/2006/main" prst="roundRect">
            <a:avLst>
              <a:gd name="adj" fmla="val 4800"/>
            </a:avLst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55F609-4DFC-4753-B8E2-9A241750A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686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Month 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AEC24E-2622-4E70-AF72-9BFFC8E33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33750"/>
            <a:ext cx="2476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Sui education content, landing page direction, partner mapping, community introduction.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B4AB4A-1F28-4C40-B5AA-974430A92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24100"/>
            <a:ext cx="3048000" cy="2381250"/>
          </a:xfrm>
          <a:prstGeom xmlns:a="http://schemas.openxmlformats.org/drawingml/2006/main" prst="roundRect">
            <a:avLst>
              <a:gd name="adj" fmla="val 4800"/>
            </a:avLst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BAD56D-D334-4D48-ACF1-3555440B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686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Month 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FF8FFF-3B90-4237-968F-6A798D64E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333750"/>
            <a:ext cx="2476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Cultural NFT concept page, reward-flow prototype, MSME pilot documentation.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1D2A00-F9A8-4AF0-81B1-50FF493D5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324100"/>
            <a:ext cx="3048000" cy="2381250"/>
          </a:xfrm>
          <a:prstGeom xmlns:a="http://schemas.openxmlformats.org/drawingml/2006/main" prst="roundRect">
            <a:avLst>
              <a:gd name="adj" fmla="val 4800"/>
            </a:avLst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F990217-C65C-40DF-A30C-6561B4049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2686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Month 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CDB3E5-054E-41F8-A81A-B768B2F25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3333750"/>
            <a:ext cx="2476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Public progress report, dashboard update, final documentation, next-stage roadmap.</a:t>
            </a:r>
          </a:p>
        </p:txBody>
      </p:sp>
    </p:spTree>
    <p:extLst>
      <p:ext uri="{BB962C8B-B14F-4D97-AF65-F5344CB8AC3E}">
        <p14:creationId xmlns:p14="http://schemas.microsoft.com/office/powerpoint/2010/main" val="110122725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6E6E3E-591B-4807-A310-6154BC06F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6B50A5-2AF6-48F5-843B-02A3D3E17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113BE2-10E9-472C-8C12-4F8B4131C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1809750"/>
            <a:ext cx="4953000" cy="4953000"/>
          </a:xfrm>
          <a:prstGeom xmlns:a="http://schemas.openxmlformats.org/drawingml/2006/main" prst="arc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EFE473-B1FE-4943-B187-B4BE9B68C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GRANT REQUEST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185ACB-3E5C-488F-B071-7C11550A1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904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EEF7FF"/>
                </a:solidFill>
                <a:latin typeface="Arial"/>
                <a:ea typeface="Arial"/>
                <a:cs typeface="Arial"/>
              </a:rPr>
              <a:t>Initial request: 3,000 - 5,000 SUI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8A3867-9218-4254-93A5-508972210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7160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8BDD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8BDD4"/>
                </a:solidFill>
                <a:latin typeface="Arial"/>
                <a:ea typeface="Arial"/>
                <a:cs typeface="Arial"/>
              </a:rPr>
              <a:t>Funds support public education, dashboard improvement, community onboarding, and documentation.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4E8E9A5-1ECD-42BD-857E-2C614E384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781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8BDD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8BDD4"/>
                </a:solidFill>
                <a:latin typeface="Arial"/>
                <a:ea typeface="Arial"/>
                <a:cs typeface="Arial"/>
              </a:rPr>
              <a:t>AK Token Ecosystem | Polygon live, Sui-facing proposal | Not investment advice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344D2E6-26AE-4062-8B97-8A02556E9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817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1697B0-4F9C-4D03-BCB1-9BF6F884A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57175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EAD53E6-04B6-438D-8344-AFCFD9C2C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181225"/>
            <a:ext cx="234315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EF7FF"/>
                </a:solidFill>
                <a:latin typeface="Arial"/>
                <a:ea typeface="Arial"/>
                <a:cs typeface="Arial"/>
              </a:rPr>
              <a:t>Budget Area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B8994F-8AB5-4513-A024-0EF64EFB8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095500"/>
            <a:ext cx="152400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E0FCF3-0CC0-4026-AC41-C4C1602A0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181225"/>
            <a:ext cx="129540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EF7FF"/>
                </a:solidFill>
                <a:latin typeface="Arial"/>
                <a:ea typeface="Arial"/>
                <a:cs typeface="Arial"/>
              </a:rPr>
              <a:t>Allocation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0DB7BF-50E6-40AA-AEF5-A20CC2769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095500"/>
            <a:ext cx="619125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C06B34-D523-413B-A3E3-45DEDEAB9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181225"/>
            <a:ext cx="596265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EEF7FF"/>
                </a:solidFill>
                <a:latin typeface="Arial"/>
                <a:ea typeface="Arial"/>
                <a:cs typeface="Arial"/>
              </a:rPr>
              <a:t>Use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8965FD7-2E4B-4414-94BF-AFA785DD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49525"/>
            <a:ext cx="257175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B1ED55E-901E-46E0-A248-A9D2A22EB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35250"/>
            <a:ext cx="234315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Development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09122F0-F367-4B29-B9EA-A2A02A7B6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549525"/>
            <a:ext cx="152400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00B0F3-52D4-4922-BC6F-80CCE7FBF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2635250"/>
            <a:ext cx="129540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40%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2722CD-55F3-4B4E-ACEF-D533D5F2E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549525"/>
            <a:ext cx="619125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D146C8-FC8C-46F7-B39E-C275E308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35250"/>
            <a:ext cx="596265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Website, dashboard, reward-flow prototype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DFABDD4-677F-4145-9A21-03B34BAB5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3550"/>
            <a:ext cx="257175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08B206-2159-44C6-A1AA-4451EA86B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89275"/>
            <a:ext cx="234315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Education Content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03A2282-270E-4DB4-A935-F596C26A7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003550"/>
            <a:ext cx="152400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46DF88-F983-4CE8-9583-B699B8F0F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089275"/>
            <a:ext cx="129540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25%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0A74071-9C3E-4772-8981-A246D3F15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003550"/>
            <a:ext cx="619125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367A0A7-5B07-4059-8D6F-003FFC62E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89275"/>
            <a:ext cx="596265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Sui guides, tutorials, safe Web3 content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AB96B03-51C5-4A06-B592-02591251E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57575"/>
            <a:ext cx="257175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9564FE-C74E-4CA6-8085-ADFAEF2B1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543300"/>
            <a:ext cx="234315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Community Onboarding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B9CFB6D-DE04-476F-B009-03790D41F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457575"/>
            <a:ext cx="152400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687AD6-2E40-48D1-86A8-6CBA71B97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543300"/>
            <a:ext cx="129540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20%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8D03392-A209-4E62-A972-9010B11A0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457575"/>
            <a:ext cx="619125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08362AD-DFC7-424C-8173-5AD649FAA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543300"/>
            <a:ext cx="596265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MSME discussions and community campaigns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B2FCA64-ECCB-449E-945D-1C6FBA4AF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11600"/>
            <a:ext cx="257175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0036D87-AF62-435A-9B37-CF849BF56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997325"/>
            <a:ext cx="234315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NFT Visibility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F001B86-E11A-46DD-A9CB-AEC9E29BA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3911600"/>
            <a:ext cx="152400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8C38A98-F7DA-4A1C-BD02-9796FE0C0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3997325"/>
            <a:ext cx="129540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10%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24D0CD4-8307-46EB-A588-7199FE5B4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911600"/>
            <a:ext cx="619125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A67C898-C17A-4681-8674-81901E8BB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997325"/>
            <a:ext cx="596265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Cultural NFT concept and storytelling assets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403C2E5-1F26-4E76-8118-ECA4AD161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65625"/>
            <a:ext cx="257175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418FAAF-EFFF-4802-865A-F77720756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451350"/>
            <a:ext cx="234315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Documentation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F7ECF75-2DD2-4367-88E8-F061AAD74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4365625"/>
            <a:ext cx="152400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9DD7666-F8F7-4CFF-96C1-5ACC074C03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4451350"/>
            <a:ext cx="129540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5%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BDB7161-7128-4DB9-AF67-9B386624D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365625"/>
            <a:ext cx="6191250" cy="454025"/>
          </a:xfrm>
          <a:prstGeom xmlns:a="http://schemas.openxmlformats.org/drawingml/2006/main" prst="rect">
            <a:avLst/>
          </a:prstGeom>
          <a:ln xmlns:a="http://schemas.openxmlformats.org/drawingml/2006/main" w="9525">
            <a:solidFill>
              <a:srgbClr val="245A76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B3FD1E5-39D1-41BC-AA0B-320AF136B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451350"/>
            <a:ext cx="5962650" cy="339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Progress reports, metrics, and final report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8DDD12A-4CA0-41FC-AD6B-350633D08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43500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C857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C857"/>
                </a:solidFill>
                <a:latin typeface="Arial"/>
                <a:ea typeface="Arial"/>
                <a:cs typeface="Arial"/>
              </a:rPr>
              <a:t>Future expansion up to 10,000 SUI should be milestone-based, not assumed.</a:t>
            </a:r>
          </a:p>
        </p:txBody>
      </p:sp>
    </p:spTree>
    <p:extLst>
      <p:ext uri="{BB962C8B-B14F-4D97-AF65-F5344CB8AC3E}">
        <p14:creationId xmlns:p14="http://schemas.microsoft.com/office/powerpoint/2010/main" val="45887224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9A99BF2-2CC0-4544-A48B-B550D471B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FCFABB-6805-4B3D-913E-2FCF38B48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1D60B5-0425-4197-86BD-A2EF36C9A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-1809750"/>
            <a:ext cx="4953000" cy="4953000"/>
          </a:xfrm>
          <a:prstGeom xmlns:a="http://schemas.openxmlformats.org/drawingml/2006/main" prst="arc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A71EE3-EFC9-422A-B400-45FDF114B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THE ASK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FF8839-7845-4771-98A9-EAB9D579F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781050"/>
            <a:ext cx="9048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EEF7FF"/>
                </a:solidFill>
                <a:latin typeface="Arial"/>
                <a:ea typeface="Arial"/>
                <a:cs typeface="Arial"/>
              </a:rPr>
              <a:t>Transparent Indonesian Web3 Utility Pilot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5C6C04-08B1-4487-B122-6C1B9FA5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71600"/>
            <a:ext cx="933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A8BDD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A8BDD4"/>
                </a:solidFill>
                <a:latin typeface="Arial"/>
                <a:ea typeface="Arial"/>
                <a:cs typeface="Arial"/>
              </a:rPr>
              <a:t>AK Token is ready to present public assets, real pilot data, and a focused Sui-facing plan.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21CE782-2003-4D68-867A-E079F241C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781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A8BDD4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8BDD4"/>
                </a:solidFill>
                <a:latin typeface="Arial"/>
                <a:ea typeface="Arial"/>
                <a:cs typeface="Arial"/>
              </a:rPr>
              <a:t>AK Token Ecosystem | Polygon live, Sui-facing proposal | Not investment advice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80B2C30-0FC5-49D6-A83A-17AA4F425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381750"/>
            <a:ext cx="514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200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E45659-44A7-4023-960F-744FD047F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57425"/>
            <a:ext cx="171450" cy="171450"/>
          </a:xfrm>
          <a:prstGeom xmlns:a="http://schemas.openxmlformats.org/drawingml/2006/main" prst="ellipse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3ED2D6-1C17-441F-BC5A-13575C44C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209800"/>
            <a:ext cx="817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Approve initial grant review for 3,000 - 5,000 SUI.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36C0DB-6E07-4CEA-B85A-6A4B8F768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71775"/>
            <a:ext cx="171450" cy="171450"/>
          </a:xfrm>
          <a:prstGeom xmlns:a="http://schemas.openxmlformats.org/drawingml/2006/main" prst="ellipse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C74048B-6D1E-4160-9A7B-4D49A7095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2724150"/>
            <a:ext cx="817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Support Sui education content for Indonesian users.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7241DC-46A2-43A5-AD42-9249AAAA3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86125"/>
            <a:ext cx="171450" cy="171450"/>
          </a:xfrm>
          <a:prstGeom xmlns:a="http://schemas.openxmlformats.org/drawingml/2006/main" prst="ellipse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FD53521-037C-4C00-A54C-C2AF50E41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38500"/>
            <a:ext cx="817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Support cultural NFT concept development and community onboarding.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A72AA2-86E7-4CCB-B2FB-E58FE8252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00475"/>
            <a:ext cx="171450" cy="171450"/>
          </a:xfrm>
          <a:prstGeom xmlns:a="http://schemas.openxmlformats.org/drawingml/2006/main" prst="ellipse">
            <a:avLst/>
          </a:prstGeom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2C5898-973E-4DE9-84FB-6364A2650D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752850"/>
            <a:ext cx="81724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Use aktoken.id/grant.html and the proposal PDF as primary review links.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B36DFE5-AF20-452E-8DF1-C6B35154F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4400550"/>
            <a:ext cx="4000500" cy="1257300"/>
          </a:xfrm>
          <a:prstGeom xmlns:a="http://schemas.openxmlformats.org/drawingml/2006/main" prst="roundRect">
            <a:avLst>
              <a:gd name="adj" fmla="val 9091"/>
            </a:avLst>
          </a:prstGeom>
          <a:ln xmlns:a="http://schemas.openxmlformats.org/drawingml/2006/main" w="9525">
            <a:solidFill>
              <a:srgbClr val="39FF8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BCABBD-DF69-49BF-A488-CAA6ADD1C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648200"/>
            <a:ext cx="171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39FF8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39FF88"/>
                </a:solidFill>
                <a:latin typeface="Arial"/>
                <a:ea typeface="Arial"/>
                <a:cs typeface="Arial"/>
              </a:rPr>
              <a:t>Review Links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BAD8A9E-3C65-4877-A6EC-FB77B413B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5010150"/>
            <a:ext cx="3238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aktoken.id</a:t>
            </a:r>
          </a:p>
          <a:p xmlns:a="http://schemas.openxmlformats.org/drawingml/2006/main">
            <a:pPr algn="l">
              <a:defRPr sz="1275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aktoken.id/grant.html</a:t>
            </a:r>
          </a:p>
          <a:p xmlns:a="http://schemas.openxmlformats.org/drawingml/2006/main">
            <a:pPr algn="l">
              <a:defRPr sz="1275" b="0">
                <a:solidFill>
                  <a:srgbClr val="EEF7F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EEF7FF"/>
                </a:solidFill>
                <a:latin typeface="Arial"/>
                <a:ea typeface="Arial"/>
                <a:cs typeface="Arial"/>
              </a:rPr>
              <a:t>x.com/ZOQstudio</a:t>
            </a:r>
          </a:p>
        </p:txBody>
      </p:sp>
    </p:spTree>
    <p:extLst>
      <p:ext uri="{BB962C8B-B14F-4D97-AF65-F5344CB8AC3E}">
        <p14:creationId xmlns:p14="http://schemas.microsoft.com/office/powerpoint/2010/main" val="59680945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2026-06-18T17:29:46.9060000Z</dcterms:created>
  <dcterms:modified xsi:type="dcterms:W3CDTF">2026-06-18T17:29:46.9060000Z</dcterms:modified>
</coreProperties>
</file>